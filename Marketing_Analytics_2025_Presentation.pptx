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542E7C-2A62-417F-ABF1-702C3507E299}" v="725" dt="2026-09-10T16:23:44.8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1592680" cy="224677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MARKETING </a:t>
            </a:r>
            <a:r>
              <a:rPr lang="en-US" sz="1100" b="1">
                <a:solidFill>
                  <a:srgbClr val="FFFFFF"/>
                </a:solidFill>
                <a:latin typeface="Aptos"/>
              </a:rPr>
              <a:t>ANALYTICS</a:t>
            </a:r>
            <a:endParaRPr sz="11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1247" y="1985349"/>
            <a:ext cx="7315200" cy="1325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ptos"/>
              </a:rPr>
              <a:t>2025 Performance
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427730"/>
            <a:ext cx="6583680" cy="6583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From acquisition volume to conversion efficiency, engagement and customer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199632"/>
            <a:ext cx="1607107" cy="19389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Aptos"/>
              </a:rPr>
              <a:t>Presented by LACHHEB Karima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744A67"/>
                </a:solidFill>
                <a:latin typeface="Aptos"/>
              </a:rPr>
              <a:t>01 •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24242A"/>
                </a:solidFill>
                <a:latin typeface="Aptos"/>
              </a:rPr>
              <a:t>2025: conversion resilience, but a sharp decline in 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7899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66770"/>
                </a:solidFill>
                <a:latin typeface="Aptos"/>
              </a:rPr>
              <a:t>The year maintained overall conversion performance while social-media volume contracted substantially.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D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9384"/>
            <a:ext cx="2185416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666770"/>
                </a:solidFill>
                <a:latin typeface="Aptos"/>
              </a:rPr>
              <a:t>CONVERSION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221991"/>
            <a:ext cx="218541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24242A"/>
                </a:solidFill>
                <a:latin typeface="Aptos"/>
              </a:rPr>
              <a:t>8.55%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871049"/>
            <a:ext cx="218541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3917E"/>
                </a:solidFill>
                <a:latin typeface="Aptos"/>
              </a:rPr>
              <a:t>+0.07 pp vs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705" y="2723701"/>
            <a:ext cx="218541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666770"/>
                </a:solidFill>
                <a:latin typeface="Aptos"/>
              </a:rPr>
              <a:t>2024: 8.48%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78308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D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10712" y="1929384"/>
            <a:ext cx="2185416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666770"/>
                </a:solidFill>
                <a:latin typeface="Aptos"/>
              </a:rPr>
              <a:t>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221991"/>
            <a:ext cx="218541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24242A"/>
                </a:solidFill>
                <a:latin typeface="Aptos"/>
              </a:rPr>
              <a:t>1.10M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150" y="2871049"/>
            <a:ext cx="218541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75B67"/>
                </a:solidFill>
                <a:latin typeface="Aptos"/>
              </a:rPr>
              <a:t>−63.2% vs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150" y="2723702"/>
            <a:ext cx="218541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666770"/>
                </a:solidFill>
                <a:latin typeface="Aptos"/>
              </a:rPr>
              <a:t>2024: 2.98M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178308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D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62472" y="1929384"/>
            <a:ext cx="2185416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666770"/>
                </a:solidFill>
                <a:latin typeface="Aptos"/>
              </a:rPr>
              <a:t>CLICKS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2221991"/>
            <a:ext cx="218541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24242A"/>
                </a:solidFill>
                <a:latin typeface="Aptos"/>
              </a:rPr>
              <a:t>67.6K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62472" y="2871049"/>
            <a:ext cx="218541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75B67"/>
                </a:solidFill>
                <a:latin typeface="Aptos"/>
              </a:rPr>
              <a:t>−85.2% vs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3787" y="2723701"/>
            <a:ext cx="218541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666770"/>
                </a:solidFill>
                <a:latin typeface="Aptos"/>
              </a:rPr>
              <a:t>2024: 458.3K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178308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D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14232" y="1929384"/>
            <a:ext cx="2185416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666770"/>
                </a:solidFill>
                <a:latin typeface="Aptos"/>
              </a:rPr>
              <a:t>AVG. RATING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4232" y="2221991"/>
            <a:ext cx="218541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24242A"/>
                </a:solidFill>
                <a:latin typeface="Aptos"/>
              </a:rPr>
              <a:t>3.66 /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4232" y="2871049"/>
            <a:ext cx="218541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666770"/>
                </a:solidFill>
                <a:latin typeface="Aptos"/>
              </a:rPr>
              <a:t>−0.01 vs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4232" y="2723701"/>
            <a:ext cx="218541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666770"/>
                </a:solidFill>
                <a:latin typeface="Aptos"/>
              </a:rPr>
              <a:t>2024: 3.67 / 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526995"/>
            <a:ext cx="1687048" cy="300458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0969" y="3584448"/>
            <a:ext cx="903389" cy="186205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50" b="1" i="0" dirty="0">
                <a:solidFill>
                  <a:srgbClr val="744A67"/>
                </a:solidFill>
                <a:latin typeface="Aptos"/>
              </a:rPr>
              <a:t>WHAT </a:t>
            </a:r>
            <a:r>
              <a:rPr lang="en-US" sz="850" b="1" dirty="0">
                <a:solidFill>
                  <a:srgbClr val="744A67"/>
                </a:solidFill>
                <a:latin typeface="Aptos"/>
              </a:rPr>
              <a:t>CHANGES</a:t>
            </a:r>
            <a:endParaRPr sz="850" b="1" i="0" dirty="0">
              <a:solidFill>
                <a:srgbClr val="744A67"/>
              </a:solidFill>
              <a:latin typeface="Aptos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40080" y="4114800"/>
            <a:ext cx="82296" cy="82296"/>
          </a:xfrm>
          <a:prstGeom prst="ellipse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1" y="4005072"/>
            <a:ext cx="5184648" cy="6583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24242A"/>
                </a:solidFill>
                <a:latin typeface="Aptos"/>
              </a:rPr>
              <a:t>Conversion stayed broadly stable despite much lower traffic, indicating that the remaining audience still converted at a similar annual rate.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4882896"/>
            <a:ext cx="82296" cy="82296"/>
          </a:xfrm>
          <a:prstGeom prst="ellipse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1" y="4773168"/>
            <a:ext cx="5184648" cy="6583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24242A"/>
                </a:solidFill>
                <a:latin typeface="Aptos"/>
              </a:rPr>
              <a:t>Traffic weakened through most of the year: monthly views fell from 168K in January to 46K in September, before a modest Q4 recovery.</a:t>
            </a:r>
          </a:p>
        </p:txBody>
      </p:sp>
      <p:sp>
        <p:nvSpPr>
          <p:cNvPr id="32" name="Oval 31"/>
          <p:cNvSpPr/>
          <p:nvPr/>
        </p:nvSpPr>
        <p:spPr>
          <a:xfrm>
            <a:off x="647700" y="4422587"/>
            <a:ext cx="82296" cy="82296"/>
          </a:xfrm>
          <a:prstGeom prst="ellipse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875" y="4333155"/>
            <a:ext cx="8105647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24242A"/>
                </a:solidFill>
                <a:latin typeface="Aptos"/>
              </a:rPr>
              <a:t>Customer feedback remained generally positive, but the 3.66 average rating leaves a clear gap versus a 4.0 target.</a:t>
            </a:r>
          </a:p>
        </p:txBody>
      </p:sp>
      <p:sp>
        <p:nvSpPr>
          <p:cNvPr id="34" name="Oval 33"/>
          <p:cNvSpPr/>
          <p:nvPr/>
        </p:nvSpPr>
        <p:spPr>
          <a:xfrm>
            <a:off x="637117" y="5221563"/>
            <a:ext cx="82296" cy="82296"/>
          </a:xfrm>
          <a:prstGeom prst="ellipse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875" y="5101251"/>
            <a:ext cx="5184648" cy="6583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24242A"/>
                </a:solidFill>
                <a:latin typeface="Aptos"/>
              </a:rPr>
              <a:t>The strongest conversion products in 2025 shifted toward Hockey Stick, Climbing Rope, Surfboard and Cycling Helmet.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666770"/>
                </a:solidFill>
                <a:latin typeface="Aptos"/>
              </a:rPr>
              <a:t>Marketing Analytics • 2025 Performance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92240"/>
            <a:ext cx="50292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1" i="0">
                <a:solidFill>
                  <a:srgbClr val="66677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744A67"/>
                </a:solidFill>
                <a:latin typeface="Aptos"/>
              </a:rPr>
              <a:t>02 • CONVERSION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24242A"/>
                </a:solidFill>
                <a:latin typeface="Aptos"/>
              </a:rPr>
              <a:t>Conversion remained stable — but performance was highly seasonal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7899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66770"/>
                </a:solidFill>
                <a:latin typeface="Aptos"/>
              </a:rPr>
              <a:t>Annual conversion reached 8.55%, with a wide monthly spread between the weakest and strongest periods.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214884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ED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837944"/>
            <a:ext cx="1819656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666770"/>
                </a:solidFill>
                <a:latin typeface="Aptos"/>
              </a:rPr>
              <a:t>ANNUAL CONVERSION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30552"/>
            <a:ext cx="181965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24242A"/>
                </a:solidFill>
                <a:latin typeface="Aptos"/>
              </a:rPr>
              <a:t>8.55%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96972"/>
            <a:ext cx="181965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3917E"/>
                </a:solidFill>
                <a:latin typeface="Aptos"/>
              </a:rPr>
              <a:t>+0.07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570903"/>
            <a:ext cx="181965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666770"/>
                </a:solidFill>
                <a:latin typeface="Aptos"/>
              </a:rPr>
              <a:t>vs 8.48% in 2024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2" y="1691640"/>
            <a:ext cx="214884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ED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72384" y="1837944"/>
            <a:ext cx="1819656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666770"/>
                </a:solidFill>
                <a:latin typeface="Aptos"/>
              </a:rPr>
              <a:t>BEST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2130552"/>
            <a:ext cx="1068498" cy="4247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 i="0" dirty="0">
                <a:solidFill>
                  <a:srgbClr val="24242A"/>
                </a:solidFill>
                <a:latin typeface="Aptos"/>
              </a:rPr>
              <a:t>15</a:t>
            </a:r>
            <a:r>
              <a:rPr lang="en-US" sz="2400" b="1" dirty="0">
                <a:solidFill>
                  <a:srgbClr val="24242A"/>
                </a:solidFill>
                <a:latin typeface="Aptos"/>
              </a:rPr>
              <a:t>.15%</a:t>
            </a:r>
            <a:endParaRPr sz="2400" b="1" i="0" dirty="0">
              <a:solidFill>
                <a:srgbClr val="24242A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72384" y="2696972"/>
            <a:ext cx="181965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744A67"/>
                </a:solidFill>
                <a:latin typeface="Aptos"/>
              </a:rPr>
              <a:t>September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2560320"/>
            <a:ext cx="181965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666770"/>
                </a:solidFill>
                <a:latin typeface="Aptos"/>
              </a:rPr>
              <a:t>peak monthly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21224" y="1691640"/>
            <a:ext cx="214884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ED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85816" y="1837944"/>
            <a:ext cx="1819656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666770"/>
                </a:solidFill>
                <a:latin typeface="Aptos"/>
              </a:rPr>
              <a:t>LOWEST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5816" y="2130552"/>
            <a:ext cx="181965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24242A"/>
                </a:solidFill>
                <a:latin typeface="Aptos"/>
              </a:rPr>
              <a:t>2.94%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5816" y="2696972"/>
            <a:ext cx="181965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75B67"/>
                </a:solidFill>
                <a:latin typeface="Aptos"/>
              </a:rPr>
              <a:t>July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5816" y="2560320"/>
            <a:ext cx="181965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666770"/>
                </a:solidFill>
                <a:latin typeface="Aptos"/>
              </a:rPr>
              <a:t>largest performance dip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34656" y="1691640"/>
            <a:ext cx="2148840" cy="1261872"/>
          </a:xfrm>
          <a:prstGeom prst="roundRect">
            <a:avLst/>
          </a:prstGeom>
          <a:solidFill>
            <a:srgbClr val="FFFFFF"/>
          </a:solidFill>
          <a:ln>
            <a:solidFill>
              <a:srgbClr val="ED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99248" y="1837944"/>
            <a:ext cx="1819656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666770"/>
                </a:solidFill>
                <a:latin typeface="Aptos"/>
              </a:rPr>
              <a:t>YEAR-END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130552"/>
            <a:ext cx="181965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24242A"/>
                </a:solidFill>
                <a:latin typeface="Aptos"/>
              </a:rPr>
              <a:t>12.82%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2696972"/>
            <a:ext cx="181965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3917E"/>
                </a:solidFill>
                <a:latin typeface="Aptos"/>
              </a:rPr>
              <a:t>December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2560320"/>
            <a:ext cx="181965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666770"/>
                </a:solidFill>
                <a:latin typeface="Aptos"/>
              </a:rPr>
              <a:t>strong Q4 finish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726679" y="3246120"/>
            <a:ext cx="1417320" cy="310896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989255" y="3282696"/>
            <a:ext cx="892167" cy="186205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lang="en-US" sz="850" b="1" dirty="0">
                <a:solidFill>
                  <a:srgbClr val="744A67"/>
                </a:solidFill>
                <a:latin typeface="Aptos"/>
              </a:rPr>
              <a:t>WHAT CHANGES</a:t>
            </a:r>
            <a:endParaRPr lang="en-US" sz="850" b="1" i="0" dirty="0">
              <a:solidFill>
                <a:srgbClr val="744A67"/>
              </a:solidFill>
              <a:latin typeface="Aptos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7726679" y="3813048"/>
            <a:ext cx="82296" cy="82296"/>
          </a:xfrm>
          <a:prstGeom prst="ellipse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891271" y="3703320"/>
            <a:ext cx="3630168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24242A"/>
                </a:solidFill>
                <a:latin typeface="Aptos"/>
              </a:rPr>
              <a:t>March and September were the clearest conversion peaks.</a:t>
            </a:r>
          </a:p>
        </p:txBody>
      </p:sp>
      <p:sp>
        <p:nvSpPr>
          <p:cNvPr id="79" name="Oval 78"/>
          <p:cNvSpPr/>
          <p:nvPr/>
        </p:nvSpPr>
        <p:spPr>
          <a:xfrm>
            <a:off x="7726679" y="4425696"/>
            <a:ext cx="82296" cy="82296"/>
          </a:xfrm>
          <a:prstGeom prst="ellipse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891271" y="4315968"/>
            <a:ext cx="3630168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24242A"/>
                </a:solidFill>
                <a:latin typeface="Aptos"/>
              </a:rPr>
              <a:t>July fell to 2.94%, showing a major mid-year weakness.</a:t>
            </a:r>
          </a:p>
        </p:txBody>
      </p:sp>
      <p:sp>
        <p:nvSpPr>
          <p:cNvPr id="81" name="Oval 80"/>
          <p:cNvSpPr/>
          <p:nvPr/>
        </p:nvSpPr>
        <p:spPr>
          <a:xfrm>
            <a:off x="7726679" y="5038344"/>
            <a:ext cx="82296" cy="82296"/>
          </a:xfrm>
          <a:prstGeom prst="ellipse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891271" y="4928616"/>
            <a:ext cx="3630168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24242A"/>
                </a:solidFill>
                <a:latin typeface="Aptos"/>
              </a:rPr>
              <a:t>December rebounded to 12.82%, closing the year strongly.</a:t>
            </a:r>
          </a:p>
        </p:txBody>
      </p:sp>
      <p:sp>
        <p:nvSpPr>
          <p:cNvPr id="83" name="Oval 82"/>
          <p:cNvSpPr/>
          <p:nvPr/>
        </p:nvSpPr>
        <p:spPr>
          <a:xfrm>
            <a:off x="7726679" y="5650992"/>
            <a:ext cx="82296" cy="82296"/>
          </a:xfrm>
          <a:prstGeom prst="ellipse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838355" y="5541264"/>
            <a:ext cx="3915917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24242A"/>
                </a:solidFill>
                <a:latin typeface="Aptos"/>
              </a:rPr>
              <a:t>The priority is to reproduce peak-month conditions in weaker periods.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666770"/>
                </a:solidFill>
                <a:latin typeface="Aptos"/>
              </a:rPr>
              <a:t>Marketing Analytics • 2025 Performance Review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64240" y="6492240"/>
            <a:ext cx="50292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1" i="0">
                <a:solidFill>
                  <a:srgbClr val="666770"/>
                </a:solidFill>
                <a:latin typeface="Aptos"/>
              </a:rPr>
              <a:t>03</a:t>
            </a:r>
          </a:p>
        </p:txBody>
      </p:sp>
      <p:sp>
        <p:nvSpPr>
          <p:cNvPr id="89" name="Rounded Rectangle 21">
            <a:extLst>
              <a:ext uri="{FF2B5EF4-FFF2-40B4-BE49-F238E27FC236}">
                <a16:creationId xmlns:a16="http://schemas.microsoft.com/office/drawing/2014/main" id="{38D2E6A3-5DF1-B7CF-B637-27A874F7776D}"/>
              </a:ext>
            </a:extLst>
          </p:cNvPr>
          <p:cNvSpPr/>
          <p:nvPr/>
        </p:nvSpPr>
        <p:spPr>
          <a:xfrm>
            <a:off x="594361" y="3292772"/>
            <a:ext cx="6435513" cy="2520866"/>
          </a:xfrm>
          <a:prstGeom prst="roundRect">
            <a:avLst/>
          </a:prstGeom>
          <a:solidFill>
            <a:srgbClr val="FFFFFF"/>
          </a:solidFill>
          <a:ln>
            <a:solidFill>
              <a:srgbClr val="ED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1EA5DD1C-013C-C5E4-0D24-B4A1B8213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58" y="3333433"/>
            <a:ext cx="5850466" cy="24030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5">
            <a:extLst>
              <a:ext uri="{FF2B5EF4-FFF2-40B4-BE49-F238E27FC236}">
                <a16:creationId xmlns:a16="http://schemas.microsoft.com/office/drawing/2014/main" id="{1A7B1840-711D-27E5-C2BD-69E8238526E9}"/>
              </a:ext>
            </a:extLst>
          </p:cNvPr>
          <p:cNvSpPr/>
          <p:nvPr/>
        </p:nvSpPr>
        <p:spPr>
          <a:xfrm>
            <a:off x="456776" y="5373200"/>
            <a:ext cx="2011680" cy="310896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744A67"/>
                </a:solidFill>
                <a:latin typeface="Aptos"/>
              </a:rPr>
              <a:t>03 •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24242A"/>
                </a:solidFill>
                <a:latin typeface="Aptos"/>
              </a:rPr>
              <a:t>A small group of products led 2025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7899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66770"/>
                </a:solidFill>
                <a:latin typeface="Aptos"/>
              </a:rPr>
              <a:t>The product mix reveals clear candidates for promotion, merchandising and campaign prioritization.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00784"/>
            <a:ext cx="2011680" cy="310896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6384" y="1758527"/>
            <a:ext cx="1807633" cy="18620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50" b="1" i="0">
                <a:solidFill>
                  <a:srgbClr val="744A67"/>
                </a:solidFill>
                <a:latin typeface="Aptos"/>
              </a:rPr>
              <a:t>TOP PRODUCT CONVERSION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57984"/>
            <a:ext cx="150876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4242A"/>
                </a:solidFill>
                <a:latin typeface="Aptos"/>
              </a:rPr>
              <a:t>Hockey Stick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75688" y="2176272"/>
            <a:ext cx="3063240" cy="201168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075688" y="2176272"/>
            <a:ext cx="2900331" cy="201168"/>
          </a:xfrm>
          <a:prstGeom prst="roundRect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0" y="2139696"/>
            <a:ext cx="6400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744A67"/>
                </a:solidFill>
                <a:latin typeface="Aptos"/>
              </a:rPr>
              <a:t>20.8%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60903"/>
            <a:ext cx="150876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4242A"/>
                </a:solidFill>
                <a:latin typeface="Aptos"/>
              </a:rPr>
              <a:t>Climbing Rope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75688" y="2679191"/>
            <a:ext cx="3063240" cy="201168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075688" y="2679191"/>
            <a:ext cx="2784763" cy="201168"/>
          </a:xfrm>
          <a:prstGeom prst="roundRect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0" y="2642615"/>
            <a:ext cx="6400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744A67"/>
                </a:solidFill>
                <a:latin typeface="Aptos"/>
              </a:rPr>
              <a:t>20.0%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163823"/>
            <a:ext cx="150876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4242A"/>
                </a:solidFill>
                <a:latin typeface="Aptos"/>
              </a:rPr>
              <a:t>Surfboard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75688" y="3182111"/>
            <a:ext cx="3063240" cy="201168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075688" y="3182111"/>
            <a:ext cx="2634386" cy="201168"/>
          </a:xfrm>
          <a:prstGeom prst="roundRect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3145535"/>
            <a:ext cx="6400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744A67"/>
                </a:solidFill>
                <a:latin typeface="Aptos"/>
              </a:rPr>
              <a:t>18.9%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666744"/>
            <a:ext cx="150876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4242A"/>
                </a:solidFill>
                <a:latin typeface="Aptos"/>
              </a:rPr>
              <a:t>Cycling Helmet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75688" y="3685031"/>
            <a:ext cx="3063240" cy="201168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075688" y="3685031"/>
            <a:ext cx="2531350" cy="201168"/>
          </a:xfrm>
          <a:prstGeom prst="roundRect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80" y="3648455"/>
            <a:ext cx="6400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744A67"/>
                </a:solidFill>
                <a:latin typeface="Aptos"/>
              </a:rPr>
              <a:t>18.2%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169663"/>
            <a:ext cx="150876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4242A"/>
                </a:solidFill>
                <a:latin typeface="Aptos"/>
              </a:rPr>
              <a:t>Baseball Glove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75688" y="4187951"/>
            <a:ext cx="3063240" cy="201168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075688" y="4187951"/>
            <a:ext cx="1606808" cy="201168"/>
          </a:xfrm>
          <a:prstGeom prst="roundRect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12080" y="4151375"/>
            <a:ext cx="6400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744A67"/>
                </a:solidFill>
                <a:latin typeface="Aptos"/>
              </a:rPr>
              <a:t>11.5%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672583"/>
            <a:ext cx="150876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4242A"/>
                </a:solidFill>
                <a:latin typeface="Aptos"/>
              </a:rPr>
              <a:t>Dumbbells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75688" y="4690871"/>
            <a:ext cx="3063240" cy="201168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2075688" y="4690871"/>
            <a:ext cx="1306054" cy="201168"/>
          </a:xfrm>
          <a:prstGeom prst="roundRect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4654295"/>
            <a:ext cx="64008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744A67"/>
                </a:solidFill>
                <a:latin typeface="Aptos"/>
              </a:rPr>
              <a:t>9.4%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9386" y="1711367"/>
            <a:ext cx="5622207" cy="3817198"/>
          </a:xfrm>
          <a:prstGeom prst="roundRect">
            <a:avLst/>
          </a:prstGeom>
          <a:solidFill>
            <a:srgbClr val="FFFFFF"/>
          </a:solidFill>
          <a:ln>
            <a:solidFill>
              <a:srgbClr val="ED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4323" y="5434922"/>
            <a:ext cx="1378293" cy="18620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lang="en-US" sz="850" b="1" dirty="0">
                <a:solidFill>
                  <a:srgbClr val="744A67"/>
                </a:solidFill>
                <a:latin typeface="Aptos"/>
              </a:rPr>
              <a:t>ACTIONABLE TAKEWAY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692574" y="5789083"/>
            <a:ext cx="9066529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50" b="0" i="0" dirty="0">
                <a:solidFill>
                  <a:srgbClr val="24242A"/>
                </a:solidFill>
                <a:latin typeface="Aptos"/>
              </a:rPr>
              <a:t>Prioritize high-converting </a:t>
            </a:r>
            <a:r>
              <a:rPr lang="en-US" sz="1250" dirty="0">
                <a:solidFill>
                  <a:srgbClr val="24242A"/>
                </a:solidFill>
                <a:latin typeface="Aptos"/>
              </a:rPr>
              <a:t>and highly rated products</a:t>
            </a:r>
            <a:r>
              <a:rPr sz="1250" b="0" i="0" dirty="0">
                <a:solidFill>
                  <a:srgbClr val="24242A"/>
                </a:solidFill>
                <a:latin typeface="Aptos"/>
              </a:rPr>
              <a:t> in paid campaigns and seasonal promotions, then test whether their success can be replicated across weaker products.</a:t>
            </a:r>
            <a:endParaRPr lang="en-US" sz="1250" b="0" i="0">
              <a:solidFill>
                <a:srgbClr val="24242A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666770"/>
                </a:solidFill>
                <a:latin typeface="Aptos"/>
              </a:rPr>
              <a:t>Marketing Analytics • 2025 Performance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92240"/>
            <a:ext cx="50292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1" i="0">
                <a:solidFill>
                  <a:srgbClr val="666770"/>
                </a:solidFill>
                <a:latin typeface="Aptos"/>
              </a:rPr>
              <a:t>04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74ECD19-F753-BD14-4851-898134421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96" y="1936750"/>
            <a:ext cx="4955159" cy="33654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744A67"/>
                </a:solidFill>
                <a:latin typeface="Aptos"/>
              </a:rPr>
              <a:t>04 • SOCIAL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24242A"/>
                </a:solidFill>
                <a:latin typeface="Aptos"/>
              </a:rPr>
              <a:t>Reach contracted sharply — and the decline persisted into 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7899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66770"/>
                </a:solidFill>
                <a:latin typeface="Aptos"/>
              </a:rPr>
              <a:t>2025 generated 1.10M views, but interaction volume was materially lower than in 2024.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D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837944"/>
            <a:ext cx="1911096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666770"/>
                </a:solidFill>
                <a:latin typeface="Aptos"/>
              </a:rPr>
              <a:t>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30552"/>
            <a:ext cx="191109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24242A"/>
                </a:solidFill>
                <a:latin typeface="Aptos"/>
              </a:rPr>
              <a:t>1,096,704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33472"/>
            <a:ext cx="191109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75B67"/>
                </a:solidFill>
                <a:latin typeface="Aptos"/>
              </a:rPr>
              <a:t>−63.2% YoY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169164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D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63824" y="1837944"/>
            <a:ext cx="1911096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666770"/>
                </a:solidFill>
                <a:latin typeface="Aptos"/>
              </a:rPr>
              <a:t>CLICKS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3824" y="2130552"/>
            <a:ext cx="191109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24242A"/>
                </a:solidFill>
                <a:latin typeface="Aptos"/>
              </a:rPr>
              <a:t>67,632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3824" y="2633472"/>
            <a:ext cx="191109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75B67"/>
                </a:solidFill>
                <a:latin typeface="Aptos"/>
              </a:rPr>
              <a:t>−85.2% YoY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4104" y="169164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D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68696" y="1837944"/>
            <a:ext cx="1911096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666770"/>
                </a:solidFill>
                <a:latin typeface="Aptos"/>
              </a:rPr>
              <a:t>LIKES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68696" y="2130552"/>
            <a:ext cx="191109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24242A"/>
                </a:solidFill>
                <a:latin typeface="Aptos"/>
              </a:rPr>
              <a:t>4,342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68696" y="2633472"/>
            <a:ext cx="191109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75B67"/>
                </a:solidFill>
                <a:latin typeface="Aptos"/>
              </a:rPr>
              <a:t>−94.1% YoY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08975" y="1691640"/>
            <a:ext cx="2240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D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73567" y="1837944"/>
            <a:ext cx="1911096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666770"/>
                </a:solidFill>
                <a:latin typeface="Aptos"/>
              </a:rPr>
              <a:t>CLICK /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7" y="2130552"/>
            <a:ext cx="191109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24242A"/>
                </a:solidFill>
                <a:latin typeface="Aptos"/>
              </a:rPr>
              <a:t>6.17%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7" y="2633472"/>
            <a:ext cx="191109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75B67"/>
                </a:solidFill>
                <a:latin typeface="Aptos"/>
              </a:rPr>
              <a:t>vs 15.37% in 2024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452360" y="3218688"/>
            <a:ext cx="1508760" cy="310896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543800" y="3255264"/>
            <a:ext cx="13258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50" b="1" i="0">
                <a:solidFill>
                  <a:srgbClr val="744A67"/>
                </a:solidFill>
                <a:latin typeface="Aptos"/>
              </a:rPr>
              <a:t>WHAT CHANGED</a:t>
            </a:r>
          </a:p>
        </p:txBody>
      </p:sp>
      <p:sp>
        <p:nvSpPr>
          <p:cNvPr id="73" name="Oval 72"/>
          <p:cNvSpPr/>
          <p:nvPr/>
        </p:nvSpPr>
        <p:spPr>
          <a:xfrm>
            <a:off x="7452360" y="3794760"/>
            <a:ext cx="82296" cy="82296"/>
          </a:xfrm>
          <a:prstGeom prst="ellipse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616952" y="3685032"/>
            <a:ext cx="3721608" cy="53035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24242A"/>
                </a:solidFill>
                <a:latin typeface="Aptos"/>
              </a:rPr>
              <a:t>Views dropped from 168K in January to 46K in September.</a:t>
            </a:r>
          </a:p>
        </p:txBody>
      </p:sp>
      <p:sp>
        <p:nvSpPr>
          <p:cNvPr id="75" name="Oval 74"/>
          <p:cNvSpPr/>
          <p:nvPr/>
        </p:nvSpPr>
        <p:spPr>
          <a:xfrm>
            <a:off x="7452360" y="4425696"/>
            <a:ext cx="82296" cy="82296"/>
          </a:xfrm>
          <a:prstGeom prst="ellipse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616952" y="4315968"/>
            <a:ext cx="3721608" cy="53035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24242A"/>
                </a:solidFill>
                <a:latin typeface="Aptos"/>
              </a:rPr>
              <a:t>Q4 recovered modestly: 48K → 51K → 56K views.</a:t>
            </a:r>
          </a:p>
        </p:txBody>
      </p:sp>
      <p:sp>
        <p:nvSpPr>
          <p:cNvPr id="77" name="Oval 76"/>
          <p:cNvSpPr/>
          <p:nvPr/>
        </p:nvSpPr>
        <p:spPr>
          <a:xfrm>
            <a:off x="7452360" y="5056632"/>
            <a:ext cx="82296" cy="82296"/>
          </a:xfrm>
          <a:prstGeom prst="ellipse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7616952" y="4946904"/>
            <a:ext cx="3721608" cy="53035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24242A"/>
                </a:solidFill>
                <a:latin typeface="Aptos"/>
              </a:rPr>
              <a:t>Clicks represented 6.17% of views; likes represented only 0.40%.</a:t>
            </a:r>
          </a:p>
        </p:txBody>
      </p:sp>
      <p:sp>
        <p:nvSpPr>
          <p:cNvPr id="79" name="Oval 78"/>
          <p:cNvSpPr/>
          <p:nvPr/>
        </p:nvSpPr>
        <p:spPr>
          <a:xfrm>
            <a:off x="7452360" y="5687568"/>
            <a:ext cx="82296" cy="82296"/>
          </a:xfrm>
          <a:prstGeom prst="ellipse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627535" y="5588423"/>
            <a:ext cx="4398941" cy="44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 i="0">
                <a:solidFill>
                  <a:srgbClr val="24242A"/>
                </a:solidFill>
                <a:latin typeface="Aptos"/>
              </a:rPr>
              <a:t>The priority is to rebuild reach while improving content-to-action efficiency.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666770"/>
                </a:solidFill>
                <a:latin typeface="Aptos"/>
              </a:rPr>
              <a:t>Marketing Analytics • 2025 Performance Review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064240" y="6492240"/>
            <a:ext cx="50292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1" i="0">
                <a:solidFill>
                  <a:srgbClr val="666770"/>
                </a:solidFill>
                <a:latin typeface="Aptos"/>
              </a:rPr>
              <a:t>05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70505BF3-60F0-9026-65BD-C80CA6E3C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22" y="3259667"/>
            <a:ext cx="6376458" cy="27728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0"/>
            <a:ext cx="12191694" cy="68580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744A67"/>
                </a:solidFill>
                <a:latin typeface="Aptos"/>
              </a:rPr>
              <a:t>05 • CUSTOMER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7511" y="626618"/>
            <a:ext cx="11401604" cy="48628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800" b="1" i="0" dirty="0">
                <a:solidFill>
                  <a:srgbClr val="24242A"/>
                </a:solidFill>
                <a:latin typeface="Aptos"/>
              </a:rPr>
              <a:t>Customer sentiment was positive</a:t>
            </a:r>
            <a:r>
              <a:rPr lang="en-US" sz="2800" b="1" dirty="0">
                <a:solidFill>
                  <a:srgbClr val="24242A"/>
                </a:solidFill>
                <a:latin typeface="Aptos"/>
              </a:rPr>
              <a:t> </a:t>
            </a:r>
            <a:r>
              <a:rPr sz="2800" b="1" i="0" dirty="0">
                <a:solidFill>
                  <a:srgbClr val="24242A"/>
                </a:solidFill>
                <a:latin typeface="Aptos"/>
              </a:rPr>
              <a:t>with room to raise the rating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7899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66770"/>
                </a:solidFill>
                <a:latin typeface="Aptos"/>
              </a:rPr>
              <a:t>The 2025 review base was positive overall, but mixed and negative feedback identifies an improvement opportunity.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D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837944"/>
            <a:ext cx="2002536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666770"/>
                </a:solidFill>
                <a:latin typeface="Aptos"/>
              </a:rPr>
              <a:t>AVERAGE RATING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30552"/>
            <a:ext cx="200253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24242A"/>
                </a:solidFill>
                <a:latin typeface="Aptos"/>
              </a:rPr>
              <a:t>3.66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633472"/>
            <a:ext cx="200253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666770"/>
                </a:solidFill>
                <a:latin typeface="Aptos"/>
              </a:rPr>
              <a:t>−0.01 vs 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0672" y="169164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D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55264" y="1837944"/>
            <a:ext cx="2002536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666770"/>
                </a:solidFill>
                <a:latin typeface="Aptos"/>
              </a:rPr>
              <a:t>POSITIVE 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5264" y="2130552"/>
            <a:ext cx="200253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24242A"/>
                </a:solidFill>
                <a:latin typeface="Aptos"/>
              </a:rPr>
              <a:t>292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4" y="2633472"/>
            <a:ext cx="200253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3917E"/>
                </a:solidFill>
                <a:latin typeface="Aptos"/>
              </a:rPr>
              <a:t>61% of reviews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6984" y="169164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D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51576" y="1837944"/>
            <a:ext cx="2002536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666770"/>
                </a:solidFill>
                <a:latin typeface="Aptos"/>
              </a:rPr>
              <a:t>NEGATIVE + MIXED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51576" y="2130552"/>
            <a:ext cx="200253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24242A"/>
                </a:solidFill>
                <a:latin typeface="Aptos"/>
              </a:rPr>
              <a:t>178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51576" y="2633472"/>
            <a:ext cx="200253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DA8448"/>
                </a:solidFill>
                <a:latin typeface="Aptos"/>
              </a:rPr>
              <a:t>37% of reviews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691640"/>
            <a:ext cx="2331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D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7888" y="1837944"/>
            <a:ext cx="2002536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666770"/>
                </a:solidFill>
                <a:latin typeface="Aptos"/>
              </a:rPr>
              <a:t>4–5 STAR REVIEWS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130552"/>
            <a:ext cx="200253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400" b="1" i="0">
                <a:solidFill>
                  <a:srgbClr val="24242A"/>
                </a:solidFill>
                <a:latin typeface="Aptos"/>
              </a:rPr>
              <a:t>292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633472"/>
            <a:ext cx="2002536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3917E"/>
                </a:solidFill>
                <a:latin typeface="Aptos"/>
              </a:rPr>
              <a:t>61% of reviews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26610" y="3271606"/>
            <a:ext cx="1786467" cy="332062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7467" y="3318765"/>
            <a:ext cx="1614170" cy="18620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50" b="1" i="0">
                <a:solidFill>
                  <a:srgbClr val="744A67"/>
                </a:solidFill>
                <a:latin typeface="Aptos"/>
              </a:rPr>
              <a:t>RATINGS 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4899" y="3766821"/>
            <a:ext cx="756074" cy="2117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4242A"/>
                </a:solidFill>
                <a:latin typeface="Aptos"/>
              </a:rPr>
              <a:t>1 star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30427" y="3794253"/>
            <a:ext cx="2106507" cy="230039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530427" y="3794253"/>
            <a:ext cx="352033" cy="230039"/>
          </a:xfrm>
          <a:prstGeom prst="roundRect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52419" y="3766821"/>
            <a:ext cx="400897" cy="20159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666770"/>
                </a:solidFill>
                <a:latin typeface="Aptos"/>
              </a:rPr>
              <a:t>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4899" y="4160012"/>
            <a:ext cx="756074" cy="2117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4242A"/>
                </a:solidFill>
                <a:latin typeface="Aptos"/>
              </a:rPr>
              <a:t>2 stars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30427" y="4187445"/>
            <a:ext cx="2106507" cy="230039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530427" y="4187445"/>
            <a:ext cx="784649" cy="230039"/>
          </a:xfrm>
          <a:prstGeom prst="roundRect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52419" y="4160012"/>
            <a:ext cx="400897" cy="20159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666770"/>
                </a:solidFill>
                <a:latin typeface="Aptos"/>
              </a:rPr>
              <a:t>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34899" y="4553204"/>
            <a:ext cx="756074" cy="2117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4242A"/>
                </a:solidFill>
                <a:latin typeface="Aptos"/>
              </a:rPr>
              <a:t>3 stars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30427" y="4570054"/>
            <a:ext cx="2106507" cy="240622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530427" y="4570054"/>
            <a:ext cx="1284414" cy="240622"/>
          </a:xfrm>
          <a:prstGeom prst="roundRect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52419" y="4553204"/>
            <a:ext cx="400897" cy="20159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666770"/>
                </a:solidFill>
                <a:latin typeface="Aptos"/>
              </a:rPr>
              <a:t>98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34899" y="4946396"/>
            <a:ext cx="756074" cy="2117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4242A"/>
                </a:solidFill>
                <a:latin typeface="Aptos"/>
              </a:rPr>
              <a:t>4 stars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30427" y="4963245"/>
            <a:ext cx="2106507" cy="240622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530427" y="4963245"/>
            <a:ext cx="2025925" cy="240622"/>
          </a:xfrm>
          <a:prstGeom prst="roundRect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52419" y="4946396"/>
            <a:ext cx="400897" cy="20159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666770"/>
                </a:solidFill>
                <a:latin typeface="Aptos"/>
              </a:rPr>
              <a:t>154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34899" y="5339588"/>
            <a:ext cx="756074" cy="21175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4242A"/>
                </a:solidFill>
                <a:latin typeface="Aptos"/>
              </a:rPr>
              <a:t>5 stars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30427" y="5356437"/>
            <a:ext cx="2106507" cy="240622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530427" y="5356437"/>
            <a:ext cx="1811041" cy="240622"/>
          </a:xfrm>
          <a:prstGeom prst="roundRect">
            <a:avLst/>
          </a:prstGeom>
          <a:solidFill>
            <a:srgbClr val="A37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52419" y="5339588"/>
            <a:ext cx="400897" cy="20159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666770"/>
                </a:solidFill>
                <a:latin typeface="Aptos"/>
              </a:rPr>
              <a:t>138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67090" y="3271606"/>
            <a:ext cx="1385570" cy="332062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47946" y="3318765"/>
            <a:ext cx="1213274" cy="18620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850" b="1" i="0">
                <a:solidFill>
                  <a:srgbClr val="744A67"/>
                </a:solidFill>
                <a:latin typeface="Aptos"/>
              </a:rPr>
              <a:t>SENTIMENT MIX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2227" y="3730245"/>
            <a:ext cx="1213274" cy="20159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24242A"/>
                </a:solidFill>
                <a:latin typeface="Aptos"/>
              </a:rPr>
              <a:t>Positive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64099" y="3748533"/>
            <a:ext cx="1385570" cy="211751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9764099" y="3748533"/>
            <a:ext cx="1385570" cy="211751"/>
          </a:xfrm>
          <a:prstGeom prst="roundRect">
            <a:avLst/>
          </a:prstGeom>
          <a:solidFill>
            <a:srgbClr val="539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263715" y="3730245"/>
            <a:ext cx="336889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666770"/>
                </a:solidFill>
                <a:latin typeface="Aptos"/>
              </a:rPr>
              <a:t>292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2227" y="4123437"/>
            <a:ext cx="1213274" cy="20159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24242A"/>
                </a:solidFill>
                <a:latin typeface="Aptos"/>
              </a:rPr>
              <a:t>Negative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64099" y="4141725"/>
            <a:ext cx="1385570" cy="211751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9764099" y="4141725"/>
            <a:ext cx="382577" cy="211751"/>
          </a:xfrm>
          <a:prstGeom prst="roundRect">
            <a:avLst/>
          </a:prstGeom>
          <a:solidFill>
            <a:srgbClr val="B75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1263715" y="4123437"/>
            <a:ext cx="336889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666770"/>
                </a:solidFill>
                <a:latin typeface="Aptos"/>
              </a:rPr>
              <a:t>81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2227" y="4516629"/>
            <a:ext cx="1213274" cy="20159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24242A"/>
                </a:solidFill>
                <a:latin typeface="Aptos"/>
              </a:rPr>
              <a:t>Mixed negative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764099" y="4534917"/>
            <a:ext cx="1385570" cy="211751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9764099" y="4534917"/>
            <a:ext cx="261231" cy="211751"/>
          </a:xfrm>
          <a:prstGeom prst="roundRect">
            <a:avLst/>
          </a:prstGeom>
          <a:solidFill>
            <a:srgbClr val="DA8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263715" y="4516629"/>
            <a:ext cx="336889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666770"/>
                </a:solidFill>
                <a:latin typeface="Aptos"/>
              </a:rPr>
              <a:t>56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2227" y="4909821"/>
            <a:ext cx="1213274" cy="20159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24242A"/>
                </a:solidFill>
                <a:latin typeface="Aptos"/>
              </a:rPr>
              <a:t>Mixed positive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64099" y="4928108"/>
            <a:ext cx="1385570" cy="211751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9764099" y="4928108"/>
            <a:ext cx="199007" cy="211751"/>
          </a:xfrm>
          <a:prstGeom prst="roundRect">
            <a:avLst/>
          </a:prstGeom>
          <a:solidFill>
            <a:srgbClr val="705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1263715" y="4909821"/>
            <a:ext cx="336889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666770"/>
                </a:solidFill>
                <a:latin typeface="Aptos"/>
              </a:rPr>
              <a:t>41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2227" y="5303013"/>
            <a:ext cx="1213274" cy="20159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24242A"/>
                </a:solidFill>
                <a:latin typeface="Aptos"/>
              </a:rPr>
              <a:t>Neutral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764099" y="5321300"/>
            <a:ext cx="1385570" cy="211751"/>
          </a:xfrm>
          <a:prstGeom prst="roundRect">
            <a:avLst/>
          </a:prstGeom>
          <a:solidFill>
            <a:srgbClr val="ED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9764099" y="5321300"/>
            <a:ext cx="65726" cy="211751"/>
          </a:xfrm>
          <a:prstGeom prst="roundRect">
            <a:avLst/>
          </a:prstGeom>
          <a:solidFill>
            <a:srgbClr val="6667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1263715" y="5303013"/>
            <a:ext cx="336889" cy="1938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666770"/>
                </a:solidFill>
                <a:latin typeface="Aptos"/>
              </a:rPr>
              <a:t>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666770"/>
                </a:solidFill>
                <a:latin typeface="Aptos"/>
              </a:rPr>
              <a:t>Marketing Analytics • 2025 Performance Review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64240" y="6492240"/>
            <a:ext cx="50292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1" i="0">
                <a:solidFill>
                  <a:srgbClr val="666770"/>
                </a:solidFill>
                <a:latin typeface="Aptos"/>
              </a:rPr>
              <a:t>06</a:t>
            </a:r>
          </a:p>
        </p:txBody>
      </p:sp>
      <p:sp>
        <p:nvSpPr>
          <p:cNvPr id="73" name="Rounded Rectangle 5">
            <a:extLst>
              <a:ext uri="{FF2B5EF4-FFF2-40B4-BE49-F238E27FC236}">
                <a16:creationId xmlns:a16="http://schemas.microsoft.com/office/drawing/2014/main" id="{6F27582F-7F14-BAE7-B5D1-BB55BC427503}"/>
              </a:ext>
            </a:extLst>
          </p:cNvPr>
          <p:cNvSpPr/>
          <p:nvPr/>
        </p:nvSpPr>
        <p:spPr>
          <a:xfrm>
            <a:off x="583776" y="3215639"/>
            <a:ext cx="3326552" cy="2959523"/>
          </a:xfrm>
          <a:prstGeom prst="roundRect">
            <a:avLst/>
          </a:prstGeom>
          <a:solidFill>
            <a:srgbClr val="FFFFFF"/>
          </a:solidFill>
          <a:ln>
            <a:solidFill>
              <a:srgbClr val="ED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493FE4F0-2882-79AC-2574-77CF04AB6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321" y="3268663"/>
            <a:ext cx="2486025" cy="1400175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CED95676-63DD-1FED-57CE-F4F836022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226" y="4664604"/>
            <a:ext cx="2495550" cy="1381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583" y="0"/>
            <a:ext cx="12202279" cy="6858000"/>
          </a:xfrm>
          <a:prstGeom prst="rect">
            <a:avLst/>
          </a:prstGeom>
          <a:solidFill>
            <a:srgbClr val="F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1148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744A67"/>
                </a:solidFill>
                <a:latin typeface="Aptos"/>
              </a:rPr>
              <a:t>06 •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972800" cy="5669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800" b="1" i="0">
                <a:solidFill>
                  <a:srgbClr val="24242A"/>
                </a:solidFill>
                <a:latin typeface="Aptos"/>
              </a:rPr>
              <a:t>Turn 2025 signals into a focused 2026 action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25296"/>
            <a:ext cx="1078992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666770"/>
                </a:solidFill>
                <a:latin typeface="Aptos"/>
              </a:rPr>
              <a:t>The dashboard points to three priorities: recover reach, stabilize conversion, and lift customer satisfaction.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3777" y="1828800"/>
            <a:ext cx="3285489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ED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95528" y="2057400"/>
            <a:ext cx="475488" cy="475488"/>
          </a:xfrm>
          <a:prstGeom prst="ellipse">
            <a:avLst/>
          </a:prstGeom>
          <a:solidFill>
            <a:srgbClr val="744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139696"/>
            <a:ext cx="475488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2084831"/>
            <a:ext cx="192024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24242A"/>
                </a:solidFill>
                <a:latin typeface="Aptos"/>
              </a:rPr>
              <a:t>REBUILD REACH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852928"/>
            <a:ext cx="82296" cy="82296"/>
          </a:xfrm>
          <a:prstGeom prst="ellipse">
            <a:avLst/>
          </a:prstGeom>
          <a:solidFill>
            <a:srgbClr val="744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9302" y="2753783"/>
            <a:ext cx="2737781" cy="4093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4242A"/>
                </a:solidFill>
                <a:latin typeface="Aptos"/>
              </a:rPr>
              <a:t>Diagnose the sustained decline in monthly views.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11296"/>
            <a:ext cx="82296" cy="82296"/>
          </a:xfrm>
          <a:prstGeom prst="ellipse">
            <a:avLst/>
          </a:prstGeom>
          <a:solidFill>
            <a:srgbClr val="744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8718" y="3390985"/>
            <a:ext cx="2748365" cy="4093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4242A"/>
                </a:solidFill>
                <a:latin typeface="Aptos"/>
              </a:rPr>
              <a:t>Refresh content formats and distribution cadence.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169663"/>
            <a:ext cx="82296" cy="82296"/>
          </a:xfrm>
          <a:prstGeom prst="ellipse">
            <a:avLst/>
          </a:prstGeom>
          <a:solidFill>
            <a:srgbClr val="744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8718" y="4049352"/>
            <a:ext cx="2758948" cy="4093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4242A"/>
                </a:solidFill>
                <a:latin typeface="Aptos"/>
              </a:rPr>
              <a:t>Strengthen calls-to-action and audience targeting.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775114"/>
            <a:ext cx="82296" cy="82296"/>
          </a:xfrm>
          <a:prstGeom prst="ellipse">
            <a:avLst/>
          </a:prstGeom>
          <a:solidFill>
            <a:srgbClr val="744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8718" y="4707720"/>
            <a:ext cx="2769532" cy="23237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4242A"/>
                </a:solidFill>
                <a:latin typeface="Aptos"/>
              </a:rPr>
              <a:t>Use Q4 recovery as a base for scaling.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2967" y="1828799"/>
            <a:ext cx="344424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ED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432385" y="2036233"/>
            <a:ext cx="475488" cy="475488"/>
          </a:xfrm>
          <a:prstGeom prst="ellipse">
            <a:avLst/>
          </a:prstGeom>
          <a:solidFill>
            <a:srgbClr val="68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15968" y="2139696"/>
            <a:ext cx="475488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5889" y="2063664"/>
            <a:ext cx="192024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24242A"/>
                </a:solidFill>
                <a:latin typeface="Aptos"/>
              </a:rPr>
              <a:t>SCALE CONVERSION</a:t>
            </a:r>
          </a:p>
        </p:txBody>
      </p:sp>
      <p:sp>
        <p:nvSpPr>
          <p:cNvPr id="22" name="Oval 21"/>
          <p:cNvSpPr/>
          <p:nvPr/>
        </p:nvSpPr>
        <p:spPr>
          <a:xfrm>
            <a:off x="4512733" y="2789427"/>
            <a:ext cx="82296" cy="82296"/>
          </a:xfrm>
          <a:prstGeom prst="ellipse">
            <a:avLst/>
          </a:prstGeom>
          <a:solidFill>
            <a:srgbClr val="68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6743" y="2722033"/>
            <a:ext cx="3044698" cy="4093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4242A"/>
                </a:solidFill>
                <a:latin typeface="Aptos"/>
              </a:rPr>
              <a:t>Replicate peak-month tactics from March, September and December.</a:t>
            </a:r>
          </a:p>
        </p:txBody>
      </p:sp>
      <p:sp>
        <p:nvSpPr>
          <p:cNvPr id="24" name="Oval 23"/>
          <p:cNvSpPr/>
          <p:nvPr/>
        </p:nvSpPr>
        <p:spPr>
          <a:xfrm>
            <a:off x="4512733" y="3468962"/>
            <a:ext cx="82296" cy="82296"/>
          </a:xfrm>
          <a:prstGeom prst="ellipse">
            <a:avLst/>
          </a:prstGeom>
          <a:solidFill>
            <a:srgbClr val="68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56159" y="3401567"/>
            <a:ext cx="3055281" cy="4093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4242A"/>
                </a:solidFill>
                <a:latin typeface="Aptos"/>
              </a:rPr>
              <a:t>Prioritize Hockey Stick, Climbing Rope and Surfboard.</a:t>
            </a:r>
          </a:p>
        </p:txBody>
      </p:sp>
      <p:sp>
        <p:nvSpPr>
          <p:cNvPr id="26" name="Oval 25"/>
          <p:cNvSpPr/>
          <p:nvPr/>
        </p:nvSpPr>
        <p:spPr>
          <a:xfrm>
            <a:off x="4512733" y="4053246"/>
            <a:ext cx="82296" cy="82296"/>
          </a:xfrm>
          <a:prstGeom prst="ellipse">
            <a:avLst/>
          </a:prstGeom>
          <a:solidFill>
            <a:srgbClr val="68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45575" y="3996435"/>
            <a:ext cx="3065865" cy="4093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4242A"/>
                </a:solidFill>
                <a:latin typeface="Aptos"/>
              </a:rPr>
              <a:t>Use seasonal offers around proven demand windows.</a:t>
            </a:r>
          </a:p>
        </p:txBody>
      </p:sp>
      <p:sp>
        <p:nvSpPr>
          <p:cNvPr id="28" name="Oval 27"/>
          <p:cNvSpPr/>
          <p:nvPr/>
        </p:nvSpPr>
        <p:spPr>
          <a:xfrm>
            <a:off x="4512733" y="4711614"/>
            <a:ext cx="82296" cy="82296"/>
          </a:xfrm>
          <a:prstGeom prst="ellipse">
            <a:avLst/>
          </a:prstGeom>
          <a:solidFill>
            <a:srgbClr val="68B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45575" y="4654803"/>
            <a:ext cx="3065865" cy="23237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4242A"/>
                </a:solidFill>
                <a:latin typeface="Aptos"/>
              </a:rPr>
              <a:t>Monitor product-level conversion weekly.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64407" y="1828800"/>
            <a:ext cx="341249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ED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365575" y="2057400"/>
            <a:ext cx="475488" cy="475488"/>
          </a:xfrm>
          <a:prstGeom prst="ellipse">
            <a:avLst/>
          </a:prstGeom>
          <a:solidFill>
            <a:srgbClr val="705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65575" y="2139696"/>
            <a:ext cx="475488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9079" y="2084831"/>
            <a:ext cx="192024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24242A"/>
                </a:solidFill>
                <a:latin typeface="Aptos"/>
              </a:rPr>
              <a:t>LIFT EXPERIENCE</a:t>
            </a:r>
          </a:p>
        </p:txBody>
      </p:sp>
      <p:sp>
        <p:nvSpPr>
          <p:cNvPr id="34" name="Oval 33"/>
          <p:cNvSpPr/>
          <p:nvPr/>
        </p:nvSpPr>
        <p:spPr>
          <a:xfrm>
            <a:off x="8371840" y="2821178"/>
            <a:ext cx="82296" cy="82296"/>
          </a:xfrm>
          <a:prstGeom prst="ellipse">
            <a:avLst/>
          </a:prstGeom>
          <a:solidFill>
            <a:srgbClr val="705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57598" y="2743200"/>
            <a:ext cx="2441448" cy="60350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4242A"/>
                </a:solidFill>
                <a:latin typeface="Aptos"/>
              </a:rPr>
              <a:t>Target the 3.66 average rating toward 4.0+.</a:t>
            </a:r>
          </a:p>
        </p:txBody>
      </p:sp>
      <p:sp>
        <p:nvSpPr>
          <p:cNvPr id="36" name="Oval 35"/>
          <p:cNvSpPr/>
          <p:nvPr/>
        </p:nvSpPr>
        <p:spPr>
          <a:xfrm>
            <a:off x="8371840" y="3479546"/>
            <a:ext cx="82296" cy="82296"/>
          </a:xfrm>
          <a:prstGeom prst="ellipse">
            <a:avLst/>
          </a:prstGeom>
          <a:solidFill>
            <a:srgbClr val="705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89348" y="3422734"/>
            <a:ext cx="2928281" cy="4093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4242A"/>
                </a:solidFill>
                <a:latin typeface="Aptos"/>
              </a:rPr>
              <a:t>Investigate recurring mixed/negative review themes.</a:t>
            </a:r>
          </a:p>
        </p:txBody>
      </p:sp>
      <p:sp>
        <p:nvSpPr>
          <p:cNvPr id="38" name="Oval 37"/>
          <p:cNvSpPr/>
          <p:nvPr/>
        </p:nvSpPr>
        <p:spPr>
          <a:xfrm>
            <a:off x="8371840" y="4137913"/>
            <a:ext cx="82296" cy="82296"/>
          </a:xfrm>
          <a:prstGeom prst="ellipse">
            <a:avLst/>
          </a:prstGeom>
          <a:solidFill>
            <a:srgbClr val="705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78764" y="4028185"/>
            <a:ext cx="2938865" cy="4093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4242A"/>
                </a:solidFill>
                <a:latin typeface="Aptos"/>
              </a:rPr>
              <a:t>Close the feedback loop with product and support teams.</a:t>
            </a:r>
          </a:p>
        </p:txBody>
      </p:sp>
      <p:sp>
        <p:nvSpPr>
          <p:cNvPr id="40" name="Oval 39"/>
          <p:cNvSpPr/>
          <p:nvPr/>
        </p:nvSpPr>
        <p:spPr>
          <a:xfrm>
            <a:off x="8371840" y="4796281"/>
            <a:ext cx="82296" cy="82296"/>
          </a:xfrm>
          <a:prstGeom prst="ellipse">
            <a:avLst/>
          </a:prstGeom>
          <a:solidFill>
            <a:srgbClr val="7053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57598" y="4718303"/>
            <a:ext cx="2441448" cy="60350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4242A"/>
                </a:solidFill>
                <a:latin typeface="Aptos"/>
              </a:rPr>
              <a:t>Track rating movement by product and month.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 i="0">
                <a:solidFill>
                  <a:srgbClr val="666770"/>
                </a:solidFill>
                <a:latin typeface="Aptos"/>
              </a:rPr>
              <a:t>Marketing Analytics • 2025 Performance 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6492240"/>
            <a:ext cx="50292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1" i="0">
                <a:solidFill>
                  <a:srgbClr val="66677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287</cp:revision>
  <dcterms:created xsi:type="dcterms:W3CDTF">2013-01-27T09:14:16Z</dcterms:created>
  <dcterms:modified xsi:type="dcterms:W3CDTF">2026-09-10T16:31:25Z</dcterms:modified>
  <cp:category/>
</cp:coreProperties>
</file>